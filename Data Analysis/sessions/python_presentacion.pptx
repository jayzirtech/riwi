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188720"/>
            <a:ext cx="4114800" cy="4114800"/>
          </a:xfrm>
          <a:prstGeom prst="ellipse">
            <a:avLst/>
          </a:prstGeom>
          <a:solidFill>
            <a:srgbClr val="3776AB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FFD43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 DE PROGRAMACIÓN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23317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640080" y="3703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C7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del lenguaje: sintaxis, tipos de dato, estructuras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C7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control, funciones y las líneas de código más comunes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4846320"/>
            <a:ext cx="3840480" cy="502920"/>
          </a:xfrm>
          <a:prstGeom prst="roundRect">
            <a:avLst>
              <a:gd name="adj" fmla="val 50909"/>
            </a:avLst>
          </a:prstGeom>
          <a:solidFill>
            <a:srgbClr val="22335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48463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9EC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print("Hola, mundo")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Fundamentos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77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Python?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es un lenguaje de programación interpretado, de propósito general y sintaxis muy legible. Es popular en desarrollo web, ciencia de datos, automatización, inteligencia artificial y scripting.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5F7FA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8803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3776A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352044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Legible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3931920"/>
            <a:ext cx="2148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Sintaxis cercana al inglés, sin llaves ni punto y coma.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256032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5F7FA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0" y="28803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3776AB"/>
          </a:solidFill>
          <a:ln/>
        </p:spPr>
      </p:sp>
      <p:sp>
        <p:nvSpPr>
          <p:cNvPr id="11" name="Text 9"/>
          <p:cNvSpPr/>
          <p:nvPr/>
        </p:nvSpPr>
        <p:spPr>
          <a:xfrm>
            <a:off x="3611880" y="352044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Interpretado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11880" y="3931920"/>
            <a:ext cx="2148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ejecuta línea por línea, sin compilar antes.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256032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5F7FA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92240" y="28803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3776AB"/>
          </a:solidFill>
          <a:ln/>
        </p:spPr>
      </p:sp>
      <p:sp>
        <p:nvSpPr>
          <p:cNvPr id="15" name="Text 13"/>
          <p:cNvSpPr/>
          <p:nvPr/>
        </p:nvSpPr>
        <p:spPr>
          <a:xfrm>
            <a:off x="6446520" y="352044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Multiparadigma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46520" y="3931920"/>
            <a:ext cx="2148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Soporta programación orientada a objetos, funcional y procedural.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052560" y="256032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5F7FA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326880" y="28803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3776AB"/>
          </a:solidFill>
          <a:ln/>
        </p:spPr>
      </p:sp>
      <p:sp>
        <p:nvSpPr>
          <p:cNvPr id="19" name="Text 17"/>
          <p:cNvSpPr/>
          <p:nvPr/>
        </p:nvSpPr>
        <p:spPr>
          <a:xfrm>
            <a:off x="9281160" y="352044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 ecosistema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281160" y="3931920"/>
            <a:ext cx="2148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 de librerías: pandas, Django, NumPy, TensorFlow...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Fundamentos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77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y tipos de dato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217920" cy="4023360"/>
          </a:xfrm>
          <a:prstGeom prst="roundRect">
            <a:avLst>
              <a:gd name="adj" fmla="val 2727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901952"/>
            <a:ext cx="109728" cy="109728"/>
          </a:xfrm>
          <a:prstGeom prst="ellipse">
            <a:avLst/>
          </a:prstGeom>
          <a:solidFill>
            <a:srgbClr val="F7768E"/>
          </a:solidFill>
          <a:ln/>
        </p:spPr>
      </p:sp>
      <p:sp>
        <p:nvSpPr>
          <p:cNvPr id="6" name="Shape 4"/>
          <p:cNvSpPr/>
          <p:nvPr/>
        </p:nvSpPr>
        <p:spPr>
          <a:xfrm>
            <a:off x="969264" y="1901952"/>
            <a:ext cx="109728" cy="109728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7" name="Shape 5"/>
          <p:cNvSpPr/>
          <p:nvPr/>
        </p:nvSpPr>
        <p:spPr>
          <a:xfrm>
            <a:off x="1188720" y="1901952"/>
            <a:ext cx="109728" cy="109728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148840"/>
            <a:ext cx="56692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 = 'Ana'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edad = 23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altura = 1.68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activo = True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type(edad)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print(nombre, edad)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132320" y="17373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77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 = 'Ana'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132320" y="20116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str: texto entre comillas simples o dobles.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132320" y="24688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77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edad = 23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132320" y="274320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int: número entero.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132320" y="32004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77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altura = 1.68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132320" y="347472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float: número decimal.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132320" y="39319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77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activo = True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132320" y="420624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bool: verdadero o falso (con mayúscula inicial).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132320" y="46634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77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type(x)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132320" y="49377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Devuelve el tipo de dato de una variable.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Fundamentos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77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Estructuras de datos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217920" cy="4023360"/>
          </a:xfrm>
          <a:prstGeom prst="roundRect">
            <a:avLst>
              <a:gd name="adj" fmla="val 2727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901952"/>
            <a:ext cx="109728" cy="109728"/>
          </a:xfrm>
          <a:prstGeom prst="ellipse">
            <a:avLst/>
          </a:prstGeom>
          <a:solidFill>
            <a:srgbClr val="F7768E"/>
          </a:solidFill>
          <a:ln/>
        </p:spPr>
      </p:sp>
      <p:sp>
        <p:nvSpPr>
          <p:cNvPr id="6" name="Shape 4"/>
          <p:cNvSpPr/>
          <p:nvPr/>
        </p:nvSpPr>
        <p:spPr>
          <a:xfrm>
            <a:off x="969264" y="1901952"/>
            <a:ext cx="109728" cy="109728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7" name="Shape 5"/>
          <p:cNvSpPr/>
          <p:nvPr/>
        </p:nvSpPr>
        <p:spPr>
          <a:xfrm>
            <a:off x="1188720" y="1901952"/>
            <a:ext cx="109728" cy="109728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148840"/>
            <a:ext cx="56692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lista = [1, 2, 3]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lista.append(4)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tupla = (1, 2, 3)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diccionario = {'clave': 'valor'}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diccionario['clave']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conjunto = {1, 2, 3}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132320" y="17373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77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 [ ]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132320" y="20116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Colección ordenada y modificable (mutable). Admite duplicados.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132320" y="24688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77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tuple ( )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132320" y="274320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una lista, pero inmutable: no se puede modificar tras crearla.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132320" y="32004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77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dict { }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132320" y="347472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Pares clave-valor; se accede por clave, no por posición.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132320" y="39319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77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{ }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132320" y="420624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Colección sin orden ni duplicados.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Fundamentos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77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Operadores comunes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217920" cy="4023360"/>
          </a:xfrm>
          <a:prstGeom prst="roundRect">
            <a:avLst>
              <a:gd name="adj" fmla="val 2727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901952"/>
            <a:ext cx="109728" cy="109728"/>
          </a:xfrm>
          <a:prstGeom prst="ellipse">
            <a:avLst/>
          </a:prstGeom>
          <a:solidFill>
            <a:srgbClr val="F7768E"/>
          </a:solidFill>
          <a:ln/>
        </p:spPr>
      </p:sp>
      <p:sp>
        <p:nvSpPr>
          <p:cNvPr id="6" name="Shape 4"/>
          <p:cNvSpPr/>
          <p:nvPr/>
        </p:nvSpPr>
        <p:spPr>
          <a:xfrm>
            <a:off x="969264" y="1901952"/>
            <a:ext cx="109728" cy="109728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7" name="Shape 5"/>
          <p:cNvSpPr/>
          <p:nvPr/>
        </p:nvSpPr>
        <p:spPr>
          <a:xfrm>
            <a:off x="1188720" y="1901952"/>
            <a:ext cx="109728" cy="109728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148840"/>
            <a:ext cx="56692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+ 3, 5 - 3, 5 * 3, 5 / 3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// 3   # división entera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5 % 3    # módulo (resto)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** 2   # potencia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== 3, 5 != 3, 5 &gt; 3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 and False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 or False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True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132320" y="17373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77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- * /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132320" y="20116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Operadores aritméticos básicos.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132320" y="24688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77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%  **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132320" y="274320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División entera, resto de la división y potencia.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132320" y="32004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77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 != &gt; &lt;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132320" y="347472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Comparadores; devuelven True o False.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132320" y="39319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77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 / or / not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132320" y="420624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Operadores lógicos para combinar condiciones.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Fundamentos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77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FLUJO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Condicionales (if / elif / else)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217920" cy="4023360"/>
          </a:xfrm>
          <a:prstGeom prst="roundRect">
            <a:avLst>
              <a:gd name="adj" fmla="val 2727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901952"/>
            <a:ext cx="109728" cy="109728"/>
          </a:xfrm>
          <a:prstGeom prst="ellipse">
            <a:avLst/>
          </a:prstGeom>
          <a:solidFill>
            <a:srgbClr val="F7768E"/>
          </a:solidFill>
          <a:ln/>
        </p:spPr>
      </p:sp>
      <p:sp>
        <p:nvSpPr>
          <p:cNvPr id="6" name="Shape 4"/>
          <p:cNvSpPr/>
          <p:nvPr/>
        </p:nvSpPr>
        <p:spPr>
          <a:xfrm>
            <a:off x="969264" y="1901952"/>
            <a:ext cx="109728" cy="109728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7" name="Shape 5"/>
          <p:cNvSpPr/>
          <p:nvPr/>
        </p:nvSpPr>
        <p:spPr>
          <a:xfrm>
            <a:off x="1188720" y="1901952"/>
            <a:ext cx="109728" cy="109728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148840"/>
            <a:ext cx="56692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edad = 20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AA2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edad &gt;= 18: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print('Eres mayor de edad')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AA2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edad &gt;= 13: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print('Eres adolescente')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AA2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print('Eres niño')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132320" y="17373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77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condición: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132320" y="20116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 el bloque indentado solo si la condición es verdadera.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132320" y="24688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77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condición: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132320" y="274320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evalúa si el 'if' anterior fue falso; puede haber varios.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132320" y="32004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77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132320" y="347472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ejecuta si ninguna condición anterior fue verdadera.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132320" y="39319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77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indentación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132320" y="420624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usa espacios (4 típicamente) en vez de llaves para delimitar bloques.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Fundamentos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77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FLUJO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Bucles (for / while)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217920" cy="4023360"/>
          </a:xfrm>
          <a:prstGeom prst="roundRect">
            <a:avLst>
              <a:gd name="adj" fmla="val 2727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901952"/>
            <a:ext cx="109728" cy="109728"/>
          </a:xfrm>
          <a:prstGeom prst="ellipse">
            <a:avLst/>
          </a:prstGeom>
          <a:solidFill>
            <a:srgbClr val="F7768E"/>
          </a:solidFill>
          <a:ln/>
        </p:spPr>
      </p:sp>
      <p:sp>
        <p:nvSpPr>
          <p:cNvPr id="6" name="Shape 4"/>
          <p:cNvSpPr/>
          <p:nvPr/>
        </p:nvSpPr>
        <p:spPr>
          <a:xfrm>
            <a:off x="969264" y="1901952"/>
            <a:ext cx="109728" cy="109728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7" name="Shape 5"/>
          <p:cNvSpPr/>
          <p:nvPr/>
        </p:nvSpPr>
        <p:spPr>
          <a:xfrm>
            <a:off x="1188720" y="1901952"/>
            <a:ext cx="109728" cy="109728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148840"/>
            <a:ext cx="56692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AA2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range(5):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print(i)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AA2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fruta in ['manzana', 'pera']: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print(fruta)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contador = 0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AA2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contador &lt; 3: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contador += 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132320" y="17373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77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x in range(n):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132320" y="20116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Repite el bloque n veces, con x tomando valores 0,1,...,n-1.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132320" y="24688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77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x in lista: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132320" y="274320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Recorre cada elemento de una colección (lista, tupla, string...).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132320" y="32004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77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condición: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132320" y="347472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Repite mientras la condición sea verdadera.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132320" y="39319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77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contador += 1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132320" y="420624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 a contador = contador + 1.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Fundamentos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77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REUTILIZACIÓN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217920" cy="4023360"/>
          </a:xfrm>
          <a:prstGeom prst="roundRect">
            <a:avLst>
              <a:gd name="adj" fmla="val 2727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901952"/>
            <a:ext cx="109728" cy="109728"/>
          </a:xfrm>
          <a:prstGeom prst="ellipse">
            <a:avLst/>
          </a:prstGeom>
          <a:solidFill>
            <a:srgbClr val="F7768E"/>
          </a:solidFill>
          <a:ln/>
        </p:spPr>
      </p:sp>
      <p:sp>
        <p:nvSpPr>
          <p:cNvPr id="6" name="Shape 4"/>
          <p:cNvSpPr/>
          <p:nvPr/>
        </p:nvSpPr>
        <p:spPr>
          <a:xfrm>
            <a:off x="969264" y="1901952"/>
            <a:ext cx="109728" cy="109728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7" name="Shape 5"/>
          <p:cNvSpPr/>
          <p:nvPr/>
        </p:nvSpPr>
        <p:spPr>
          <a:xfrm>
            <a:off x="1188720" y="1901952"/>
            <a:ext cx="109728" cy="109728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148840"/>
            <a:ext cx="56692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AA2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saludar(nombre):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f'Hola, {nombre}'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saludar('Ana')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AA2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sumar(a, b=0):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 + b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cuadrado = lambda x: x ** 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132320" y="17373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77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nombre(param):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132320" y="20116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una función reutilizable; el bloque va indentado.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132320" y="24688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77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valor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132320" y="274320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Devuelve un resultado y termina la función.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132320" y="32004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77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f'texto {var}'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132320" y="347472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f-string: inserta variables dentro de un texto.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132320" y="39319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77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b=0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132320" y="420624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por defecto: el parámetro es opcional.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132320" y="46634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77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lambda x: ...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132320" y="49377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 anónima de una sola línea.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Fundamentos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77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MANEJO DE TEXTO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Trabajar con strings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217920" cy="4023360"/>
          </a:xfrm>
          <a:prstGeom prst="roundRect">
            <a:avLst>
              <a:gd name="adj" fmla="val 2727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901952"/>
            <a:ext cx="109728" cy="109728"/>
          </a:xfrm>
          <a:prstGeom prst="ellipse">
            <a:avLst/>
          </a:prstGeom>
          <a:solidFill>
            <a:srgbClr val="F7768E"/>
          </a:solidFill>
          <a:ln/>
        </p:spPr>
      </p:sp>
      <p:sp>
        <p:nvSpPr>
          <p:cNvPr id="6" name="Shape 4"/>
          <p:cNvSpPr/>
          <p:nvPr/>
        </p:nvSpPr>
        <p:spPr>
          <a:xfrm>
            <a:off x="969264" y="1901952"/>
            <a:ext cx="109728" cy="109728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7" name="Shape 5"/>
          <p:cNvSpPr/>
          <p:nvPr/>
        </p:nvSpPr>
        <p:spPr>
          <a:xfrm>
            <a:off x="1188720" y="1901952"/>
            <a:ext cx="109728" cy="109728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148840"/>
            <a:ext cx="56692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texto = 'Hola Mundo'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texto.lower()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texto.upper()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texto.split(' ')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texto.replace('Hola', 'Adiós')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texto.strip()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len(texto)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texto[0:4]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132320" y="17373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77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.lower() / .upper()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132320" y="20116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Convierte el texto a minúsculas o mayúsculas.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132320" y="24688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77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.split(sep)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132320" y="274320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el texto en una lista según un separador.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132320" y="32004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77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.replace(a,b)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132320" y="347472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Reemplaza todas las apariciones de 'a' por 'b'.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132320" y="39319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77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.strip()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132320" y="420624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 espacios en blanco al inicio y final.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132320" y="46634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77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texto[0:4]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132320" y="49377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Slicing: extrae una parte del texto por posición.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Fundamentos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77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ROBUSTEZ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Manejo de errores (try/except)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217920" cy="4023360"/>
          </a:xfrm>
          <a:prstGeom prst="roundRect">
            <a:avLst>
              <a:gd name="adj" fmla="val 2727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901952"/>
            <a:ext cx="109728" cy="109728"/>
          </a:xfrm>
          <a:prstGeom prst="ellipse">
            <a:avLst/>
          </a:prstGeom>
          <a:solidFill>
            <a:srgbClr val="F7768E"/>
          </a:solidFill>
          <a:ln/>
        </p:spPr>
      </p:sp>
      <p:sp>
        <p:nvSpPr>
          <p:cNvPr id="6" name="Shape 4"/>
          <p:cNvSpPr/>
          <p:nvPr/>
        </p:nvSpPr>
        <p:spPr>
          <a:xfrm>
            <a:off x="969264" y="1901952"/>
            <a:ext cx="109728" cy="109728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7" name="Shape 5"/>
          <p:cNvSpPr/>
          <p:nvPr/>
        </p:nvSpPr>
        <p:spPr>
          <a:xfrm>
            <a:off x="1188720" y="1901952"/>
            <a:ext cx="109728" cy="109728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148840"/>
            <a:ext cx="56692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AA2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try: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resultado = 10 / 0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AA2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 ZeroDivisionError: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print('No se puede dividir por 0')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AA2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 Exception as e: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print('Error:', e)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AA2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finally: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print('Fin del intento')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132320" y="17373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77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try: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132320" y="20116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donde puede ocurrir un error.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132320" y="24688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77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 Tipo: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132320" y="274320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un error específico y evita que el programa se detenga.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132320" y="32004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77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 Exception as e: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132320" y="347472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cualquier error genérico y lo guarda en 'e'.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132320" y="39319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77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finally: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132320" y="420624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ejecuta siempre, haya o no error.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Fundamentos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77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ECOSISTEMA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y librerías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217920" cy="4023360"/>
          </a:xfrm>
          <a:prstGeom prst="roundRect">
            <a:avLst>
              <a:gd name="adj" fmla="val 2727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901952"/>
            <a:ext cx="109728" cy="109728"/>
          </a:xfrm>
          <a:prstGeom prst="ellipse">
            <a:avLst/>
          </a:prstGeom>
          <a:solidFill>
            <a:srgbClr val="F7768E"/>
          </a:solidFill>
          <a:ln/>
        </p:spPr>
      </p:sp>
      <p:sp>
        <p:nvSpPr>
          <p:cNvPr id="6" name="Shape 4"/>
          <p:cNvSpPr/>
          <p:nvPr/>
        </p:nvSpPr>
        <p:spPr>
          <a:xfrm>
            <a:off x="969264" y="1901952"/>
            <a:ext cx="109728" cy="109728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7" name="Shape 5"/>
          <p:cNvSpPr/>
          <p:nvPr/>
        </p:nvSpPr>
        <p:spPr>
          <a:xfrm>
            <a:off x="1188720" y="1901952"/>
            <a:ext cx="109728" cy="109728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148840"/>
            <a:ext cx="56692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AA2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math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math.sqrt(16)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AA2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datetime import datetime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datetime.now()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AA2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EC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nombre_paquete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132320" y="17373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77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modulo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132320" y="20116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un módulo de la librería estándar o instalado.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132320" y="24688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77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x import y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132320" y="274320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 solo una parte específica del módulo.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132320" y="32004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77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x as alias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132320" y="347472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 dándole un alias más corto para usarlo.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132320" y="39319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77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132320" y="420624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 librerías externas desde la terminal (PyPI).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Fundamentos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RÁPIDO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Chuleta de Python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1051560"/>
          </a:xfrm>
          <a:prstGeom prst="roundRect">
            <a:avLst>
              <a:gd name="adj" fmla="val 8696"/>
            </a:avLst>
          </a:prstGeom>
          <a:solidFill>
            <a:srgbClr val="1F2E52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4708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 = 'Ana'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0" y="1737360"/>
            <a:ext cx="5394960" cy="1051560"/>
          </a:xfrm>
          <a:prstGeom prst="roundRect">
            <a:avLst>
              <a:gd name="adj" fmla="val 8696"/>
            </a:avLst>
          </a:prstGeom>
          <a:solidFill>
            <a:srgbClr val="1F2E52"/>
          </a:solidFill>
          <a:ln/>
        </p:spPr>
      </p:sp>
      <p:sp>
        <p:nvSpPr>
          <p:cNvPr id="8" name="Text 6"/>
          <p:cNvSpPr/>
          <p:nvPr/>
        </p:nvSpPr>
        <p:spPr>
          <a:xfrm>
            <a:off x="6675120" y="184708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675120" y="21945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lista = [1, 2, 3]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926080"/>
            <a:ext cx="5394960" cy="1051560"/>
          </a:xfrm>
          <a:prstGeom prst="roundRect">
            <a:avLst>
              <a:gd name="adj" fmla="val 8696"/>
            </a:avLst>
          </a:prstGeom>
          <a:solidFill>
            <a:srgbClr val="1F2E52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03580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Diccionarios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33832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= {'clave': 'valor'}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0" y="2926080"/>
            <a:ext cx="5394960" cy="1051560"/>
          </a:xfrm>
          <a:prstGeom prst="roundRect">
            <a:avLst>
              <a:gd name="adj" fmla="val 8696"/>
            </a:avLst>
          </a:prstGeom>
          <a:solidFill>
            <a:srgbClr val="1F2E52"/>
          </a:solidFill>
          <a:ln/>
        </p:spPr>
      </p:sp>
      <p:sp>
        <p:nvSpPr>
          <p:cNvPr id="14" name="Text 12"/>
          <p:cNvSpPr/>
          <p:nvPr/>
        </p:nvSpPr>
        <p:spPr>
          <a:xfrm>
            <a:off x="6675120" y="303580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Condicionales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675120" y="33832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/ elif / else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114800"/>
            <a:ext cx="5394960" cy="1051560"/>
          </a:xfrm>
          <a:prstGeom prst="roundRect">
            <a:avLst>
              <a:gd name="adj" fmla="val 8696"/>
            </a:avLst>
          </a:prstGeom>
          <a:solidFill>
            <a:srgbClr val="1F2E52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22452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Bucles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45720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x in range(n): / while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0" y="4114800"/>
            <a:ext cx="5394960" cy="1051560"/>
          </a:xfrm>
          <a:prstGeom prst="roundRect">
            <a:avLst>
              <a:gd name="adj" fmla="val 8696"/>
            </a:avLst>
          </a:prstGeom>
          <a:solidFill>
            <a:srgbClr val="1F2E52"/>
          </a:solidFill>
          <a:ln/>
        </p:spPr>
      </p:sp>
      <p:sp>
        <p:nvSpPr>
          <p:cNvPr id="20" name="Text 18"/>
          <p:cNvSpPr/>
          <p:nvPr/>
        </p:nvSpPr>
        <p:spPr>
          <a:xfrm>
            <a:off x="6675120" y="422452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675120" y="45720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f(x): return x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5303520"/>
            <a:ext cx="5394960" cy="1051560"/>
          </a:xfrm>
          <a:prstGeom prst="roundRect">
            <a:avLst>
              <a:gd name="adj" fmla="val 8696"/>
            </a:avLst>
          </a:prstGeom>
          <a:solidFill>
            <a:srgbClr val="1F2E52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541324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22960" y="57607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 / except / finally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400800" y="5303520"/>
            <a:ext cx="5394960" cy="1051560"/>
          </a:xfrm>
          <a:prstGeom prst="roundRect">
            <a:avLst>
              <a:gd name="adj" fmla="val 8696"/>
            </a:avLst>
          </a:prstGeom>
          <a:solidFill>
            <a:srgbClr val="1F2E52"/>
          </a:solidFill>
          <a:ln/>
        </p:spPr>
      </p:sp>
      <p:sp>
        <p:nvSpPr>
          <p:cNvPr id="26" name="Text 24"/>
          <p:cNvSpPr/>
          <p:nvPr/>
        </p:nvSpPr>
        <p:spPr>
          <a:xfrm>
            <a:off x="6675120" y="541324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675120" y="57607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modulo as alias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Fundamentos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3776AB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37744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¡Gracias!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33832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 escribiendo pequeños scripts: variables → condicionales → bucles → funciones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Fundamentos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2026-07-28T11:41:13Z</dcterms:created>
  <dcterms:modified xsi:type="dcterms:W3CDTF">2026-07-28T11:41:13Z</dcterms:modified>
</cp:coreProperties>
</file>